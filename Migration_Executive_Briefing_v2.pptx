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programme: mandatory Azure exit with a hard contract deadline. The three pillars frame the strategic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points: (1) this migration is mandatory — not a choice; and (2) completing it unlocks strategic value that dual-cloud cannot provide. Focus the Board on the cost of inaction as much as the cost of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moving: every component of the Azure estate. Emphasise that the Azure VM (running SSIS and Windows Services) is eliminated entirely — not migrated but replaced by serverless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layers: Ingestion (how data gets in), Processing (how it is transformed), Storage (where it lives in tiers), Consumers (who uses it). The key message: zero VMs in the target state — everything is managed or serverless.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parallel workstreams. The critical path is the SSIS rewrite stream — starts Week 1, runs 20 weeks. The Week-4 Go/No-Go gate is where census results confirm the timeline is achievable. Cutover target is Week 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gates that matter to the Board. The Week-4 gate is when the Sponsor must be in the room — that is the last decision point where a re-baseline (adding weeks) is commercially manageable. After Week 8, delay becomes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risks that the Board should be aware of. The first one (undocumented business logic) is the only risk that has no technical mitigation — it requires business SME engagement. The others all have defined mitigation plans in the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dedicated roles must have BAU coverage arranged before Week 1. With the database target now RDS SQL Server (same engine as source), the existing DBA team's skills transfer directly — no external database specialist engagement is required, unlike the originally-planned PostgreSQL migration.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rollback data loss caveat is critical: any writes to RDS SQL Server after cutover are not recoverable on rollback. The business must formally agree an acceptable data loss window and a data recovery procedure before cutover day. This is not a technical decision — it is a business risk acceptance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decision slide. Five things the Board must decide today or in the next 48 hours. None of these are technical decisions — they are all programme governance and risk acceptance decisions that only the Board or Sponsor can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for the full document suite. All documents are enterprise-ready and have been corrected based on the EA independent review. The EA review scorecard and correction log are in the EA Independent Review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to AWS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Migration Programme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4630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  ·  Enterprise Architecture  ·  June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611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Platform Unification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3474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3611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50TB Data Estate Migration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474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611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ETL Modernisation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Migration — and Why 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EXIT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contract has a hard end date within the next 6–9 months.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cost-optimisation exercise. It is a contractual obligation.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to complete by the deadline results in emergency renewal or crash-programme delivery — both significantly more expensive than planned execution.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00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Single cloud vendor across the entire organisation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Native data sharing with wireless business unit on 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423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Unified security model: one IAM, one audit trail, one compliance 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834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Open-source portable ETL — no proprietary ETL vendor lock-in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246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AWS telco capabilities now accessible to both business units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7490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— Azure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54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Managed Instance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50TB estate  ·  2TB OLTP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139696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665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322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orchestration + Data Flows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51760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78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 on Azure VM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834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ETL packages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163824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90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Services on Azure VM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346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+ polling batch workers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675888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027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Functions (in ADF)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8587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compute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187952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14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SFTP/MFT on Azure VM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3708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file exchange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24528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4937760" y="1005840"/>
            <a:ext cx="37490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 — AWS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1627632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1554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 for SQL Server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18105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Multi-AZ  ·  Same engine, lift-and-shift  ·  Native backup/restore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2139696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0665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Glue + Step Functions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322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ETL + orchestration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74920" y="2651760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2578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PySpark Jobs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834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 rewrite — open Apache Spark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74920" y="3163824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090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 + Lambda + Glue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346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 ·  zero VM dependency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74920" y="3675888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6027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9240" y="38587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Azure Functions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74920" y="4187952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4114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Transfer Family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43708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SFTP  ·  S3 event-driven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SCOPE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024128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0241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DMS (CDC)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47872" y="1024128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10241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66944" y="1024128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12664" y="10241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Family (SFTP)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86016" y="1024128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31736" y="10241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83664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8483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1993392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1D4ED8">
              <a:alpha val="2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PySpark Jobs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47872" y="1993392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1D4ED8">
              <a:alpha val="2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Visual ETL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66944" y="1993392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1D4ED8">
              <a:alpha val="2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86016" y="1993392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1D4ED8">
              <a:alpha val="2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1736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852928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5409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2962656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296265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for SQL Server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47872" y="2962656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296265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+ Parquet (T2/T3)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66944" y="2962656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12664" y="296265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 (cold archive)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86016" y="2962656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296265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Data Catalog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822192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233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0" y="3931920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F766E">
              <a:alpha val="2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393192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(SqlClient)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47872" y="3931920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F766E">
              <a:alpha val="2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393192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/ Reporting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266944" y="3931920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F766E">
              <a:alpha val="2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12664" y="393192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 Subscribers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86016" y="3931920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F766E">
              <a:alpha val="2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1736" y="393192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Ops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97680" y="17556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297680" y="27249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297680" y="369417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Timeline — 28 Weeks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2471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&amp; DB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34640" y="1143000"/>
            <a:ext cx="58521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143000"/>
            <a:ext cx="292608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16128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SCT + GHCP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DB (DMS CDC)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682496"/>
            <a:ext cx="58521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1657" y="1682496"/>
            <a:ext cx="5225143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7377" y="1700784"/>
            <a:ext cx="51337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Load → CDC → Cutover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 Retirement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2221992"/>
            <a:ext cx="58521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2221992"/>
            <a:ext cx="5852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240280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replacement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 → PySpark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761488"/>
            <a:ext cx="58521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61488"/>
            <a:ext cx="4180114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2779776"/>
            <a:ext cx="40886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Week 1 — critical path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826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 → Glue ETL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3300984"/>
            <a:ext cx="58521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61657" y="3300984"/>
            <a:ext cx="3971109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7377" y="3319272"/>
            <a:ext cx="38796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GHCP + custom tool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8221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Remediation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3840480"/>
            <a:ext cx="58521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43646" y="3840480"/>
            <a:ext cx="438912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89366" y="3858768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strings · pool tuning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361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UAT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4379976"/>
            <a:ext cx="58521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33703" y="4379976"/>
            <a:ext cx="3553097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79423" y="4398264"/>
            <a:ext cx="346165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criteria → UAT → Cutover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70663" y="1005840"/>
            <a:ext cx="0" cy="4206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487783" y="4572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2709" y="1005840"/>
            <a:ext cx="0" cy="4206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159829" y="4572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Wk12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14754" y="1005840"/>
            <a:ext cx="0" cy="4206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831874" y="4572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Wk20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68789" y="1005840"/>
            <a:ext cx="0" cy="4206240"/>
          </a:xfrm>
          <a:prstGeom prst="line">
            <a:avLst/>
          </a:prstGeom>
          <a:noFill/>
          <a:ln w="25400">
            <a:solidFill>
              <a:srgbClr val="15803D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8085909" y="4572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Wk26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686800" y="1005840"/>
            <a:ext cx="0" cy="4206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8503920" y="4572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Wk28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79223" y="9784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Wk4 Go/No-Go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11589" y="978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CUTOVER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TIMELINE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Gates &amp; Key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430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 Census Begins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DB censuses + full ETL inventory: SSIS, Windows Services, Azure Functions, SFTP partners. Object counts drive every timeline commitment.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40487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4048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 (G1 gate)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7706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server redesign, collation strategy, MSDTC disposition, CLR objects — all architect decisions signed off. No batch conversion before G1.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666744"/>
            <a:ext cx="640080" cy="6400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66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36667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0325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Sponsor in the room. Real census data. If SSIS count or SP complexity exceeds plan: re-baseline the timeline now, not in Phase 3.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1143000"/>
            <a:ext cx="640080" cy="6400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143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DMS CDC Starts (DDL Freeze)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508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migration begins. DDL freeze active from this point — no schema changes for ~20 weeks. Communicated to all teams in Week 5.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313432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2404872"/>
            <a:ext cx="640080" cy="6400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24048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Cutover Gate Criteria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7706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lag &lt;2s for 72h, all ETL parallel runs clean, application regression green, SFTP partners switched, performance baseline met. All 13 must be green.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575304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666744"/>
            <a:ext cx="640080" cy="6400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666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36667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Weekend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0325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14-step runbook. T+4hr Go/No-Go decision. Pre-built rollback automation available. Azure remains live read-only for 4 weeks as safety net.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Programme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1556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155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Undocumented Business Logic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 packages encode business rules that exist nowhere else. Faithful migration migrates bugs. Mitigation: business SME reviews requirements documents before code generation.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11556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155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3168" y="1517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Data Loss After Cutover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8105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to RDS SQL Server after cutover are not recoverable if the technical rollback is executed. Mitigation: business formally agrees an acceptable data loss window before cutover day.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44144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414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8437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Conflict Reduces Team Capacity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136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weeks of parallel workstreams requires fully dedicated team members. BAU coverage for each dedicated role must be arranged before Week 1.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244144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414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28437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 Rewrite Scope Underestimated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3136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 has no automated port to AWS Glue. Week-1 census provides exact package count. Timeline re-baselined at Week-4 gate if needed.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76732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673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4169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Feature-Parity Gap Discovered Late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4462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Broker, FileStream, and MSDTC are not supported on RDS SQL Server. Full feature-parity audit in Week 1-2 surfaces any gap before it becomes a cutover blocker.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76732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7673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4169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SFTP Partner Coordination Delay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4462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partners need 4–12 weeks notice to switch SFTP endpoints. Outreach must begin Day 1. Cutover cannot proceed until all partners confirm.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SUMMARY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Team &amp; Governance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27632" y="10789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Sponsor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gate decisions  ·  Budget authority  ·  Stakeholder management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7568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27632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Cross-stream coordination  ·  Risk escalation  ·  Weekly heartbeat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540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540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27632" y="303580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Lead + Team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438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migration  ·  DMS CDC  ·  Performance tuning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41064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32504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325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27632" y="401421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Lead + Team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416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SSIS/ADF/Windows Svc/Azure Fn migration  ·  Custom tool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09728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972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33872" y="10789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Lead + Team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1481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audit  ·  Connection updates  ·  Feature-parity checks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984248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07568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75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33872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environment design  ·  RDS/Glue/Lambda/SFN  ·  Security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62656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54096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team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33872" y="303580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SQL Server Specialist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73168" y="3438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gate decisions  ·  Feature-parity audit  ·  Cutover support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41064"/>
            <a:ext cx="397764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032504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0325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Part-time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33872" y="401421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SMEs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73168" y="4416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doc review  ·  Business outcome tests  ·  UAT sign-off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Design &amp; Rollback Safety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14-Step Cutover Runbook — Target Wk 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" cy="8229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user writes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80160" y="18288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9616" y="141732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08176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quiesced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22576" y="18288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141732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lag = 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64992" y="18288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14173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93008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DMS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07408" y="18288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4173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35424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49824" y="18288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14173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Lambda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18288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11696" y="1417320"/>
            <a:ext cx="822960" cy="8229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11696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T+55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0256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writes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34656" y="1828800"/>
            <a:ext cx="219456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54112" y="1417320"/>
            <a:ext cx="822960" cy="8229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T+4hrs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62672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2880360"/>
            <a:ext cx="3840480" cy="196596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DESIGN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Pre-built GitHub Actions rollback: &lt;5 minutes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3630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Reverts connection strings to source automatically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39227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Source remains live read-only for 4 weeks post-cutover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" y="42153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written to RDS SQL Server after cutover is NOT recoverable on rollback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" y="4507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Acceptable data loss window agreed with business BEFORE cutover day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288036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00600" y="29718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CUTOVER GATE CRITERIA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33375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DMS CDC lag &lt;2s for 72 consecutive hours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0600" y="363016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ETL parallel runs: 0 discrepancies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392277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RDS SQL Server p95 within 15% of baseline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00600" y="421538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Application regression: 0 critical failures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45079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Case-sensitivity regression: exact match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48006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SFTP partners switched and confirmed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50932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Rollback rehearsed in staging (&lt;5 min)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&amp; ROLLBACK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276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the 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167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migration programme for immediate execution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Azure contract clock is running. Delay costs more than it saves.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0756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programme budget and team capacity plan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04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roles require BAU coverage. Investment recovers within 12–14 months of Azure exit.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43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RDS SQL Server licensing decision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1638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Included vs BYOL — required before the G1 architecture gate (Week 3). Drives the AWS steady-state cost figure.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593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business SME availability for requirements 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9227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SMEs must review ETL requirements documents before code generation. UAT sign-off is not sufficient.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616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61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3525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Pre-agree the rollback data loss window before cutover day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681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must formally accept the data recovery procedure. This is a Board-level risk acceptance.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Documentation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1556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155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~37p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Plan v6.0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programme plan: all workstreams, phases, 24-risk register, programme governance, 30-day action plan, 14-step cutover runbook. Updated for RDS SQL Server target.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41401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1401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SQL Server Infrastructure Guide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807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design for the lift-and-shift target: licensing decision, instance sizing, feature-parity audit, homogeneous DMS migration, security, Day 2 operations. Replaces the archived Schema Conversion Guide.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712464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7124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~51p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36941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Migration Guide v4.0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10565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ADF, SSIS, Windows Services, Azure Functions, SFTP/MFT, ordering patterns, custom tool, testing strategy, ETL governance, Day 2 operations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11556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1155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~34p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Tool Implementation v2.0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1508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migration tool: requirements doc schema, five-layer hybrid code generation, three-phase pattern rules, Sprint 0 build plan. Updated for pyodbc/T-SQL target.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304288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41401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41401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v2.0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2807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Azure exit, cost of inaction, investment required, financial return, risk assessment. Updated for RDS SQL Server cost model.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02736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3712464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7124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36941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 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410565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assessment: scorecard across 11 dimensions, structural corrections made, what is strong vs what needed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to AWS Migration — Executive Briefing</dc:title>
  <dc:subject>PptxGenJS Presentation</dc:subject>
  <dc:creator>Enterprise Architecture</dc:creator>
  <cp:lastModifiedBy>Enterprise Architecture</cp:lastModifiedBy>
  <cp:revision>1</cp:revision>
  <dcterms:created xsi:type="dcterms:W3CDTF">2026-06-17T00:44:50Z</dcterms:created>
  <dcterms:modified xsi:type="dcterms:W3CDTF">2026-06-17T00:44:50Z</dcterms:modified>
</cp:coreProperties>
</file>