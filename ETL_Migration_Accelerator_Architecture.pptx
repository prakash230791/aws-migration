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7432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106424"/>
            <a:ext cx="64008" cy="64008"/>
          </a:xfrm>
          <a:prstGeom prst="ellipse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0515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EB8C6"/>
                </a:solidFill>
                <a:latin typeface="Consolas"/>
              </a:rPr>
              <a:t>ENTERPRISE ARCHITECTURE  ·  SYSTEM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ETL Migration Accelerator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C7CFDA"/>
                </a:solidFill>
                <a:latin typeface="Calibri"/>
              </a:rPr>
              <a:t>SSIS + ADF on Azure SQL Managed Instance, rebuilt as AWS Glue jobs against RDS for SQL Server — parsed, classified and deployed by a VS Code tool with GitHub Copilot code generation and an SME approval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1563623" cy="384048"/>
          </a:xfrm>
          <a:prstGeom prst="roundRect">
            <a:avLst>
              <a:gd name="adj" fmla="val 50000"/>
            </a:avLst>
          </a:prstGeom>
          <a:solidFill>
            <a:srgbClr val="1D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892040"/>
            <a:ext cx="54864" cy="3840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4892040"/>
            <a:ext cx="138074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14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7" y="4892040"/>
            <a:ext cx="1563623" cy="384048"/>
          </a:xfrm>
          <a:prstGeom prst="roundRect">
            <a:avLst>
              <a:gd name="adj" fmla="val 50000"/>
            </a:avLst>
          </a:prstGeom>
          <a:solidFill>
            <a:srgbClr val="1D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2887" y="4892040"/>
            <a:ext cx="54864" cy="384048"/>
          </a:xfrm>
          <a:prstGeom prst="rect">
            <a:avLst/>
          </a:prstGeom>
          <a:solidFill>
            <a:srgbClr val="5D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1" y="4892040"/>
            <a:ext cx="138074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1,400+ ETL JOBS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2815" y="4892040"/>
            <a:ext cx="2114092" cy="384048"/>
          </a:xfrm>
          <a:prstGeom prst="roundRect">
            <a:avLst>
              <a:gd name="adj" fmla="val 50000"/>
            </a:avLst>
          </a:prstGeom>
          <a:solidFill>
            <a:srgbClr val="1D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5" y="4892040"/>
            <a:ext cx="54864" cy="3840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4892040"/>
            <a:ext cx="19312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AZURE SQL MI → AWS 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03212" y="4892040"/>
            <a:ext cx="1642262" cy="384048"/>
          </a:xfrm>
          <a:prstGeom prst="roundRect">
            <a:avLst>
              <a:gd name="adj" fmla="val 50000"/>
            </a:avLst>
          </a:prstGeom>
          <a:solidFill>
            <a:srgbClr val="1D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03212" y="4892040"/>
            <a:ext cx="54864" cy="384048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9516" y="4892040"/>
            <a:ext cx="145938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v3.0 ·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E7888"/>
                </a:solidFill>
                <a:latin typeface="Consolas"/>
              </a:rPr>
              <a:t>prakash230791 / aws-migration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71B22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5760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13 SLIDES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69848"/>
            <a:ext cx="10911535" cy="0"/>
          </a:xfrm>
          <a:prstGeom prst="line">
            <a:avLst/>
          </a:prstGeom>
          <a:ln w="12700">
            <a:solidFill>
              <a:srgbClr val="C3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4173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3CBD3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399032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Programme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Scale, source/target platforms, tooling model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039112"/>
            <a:ext cx="5212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220370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3CBD3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18541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Design Philosophy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47802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The four principles the tool is built 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2825496"/>
            <a:ext cx="5212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299008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3CBD3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2971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System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644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Source → Migration Accelerator → AWS target, end to end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3611880"/>
            <a:ext cx="5212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377647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3CBD3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75818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Data Flow — Five-Step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405079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Drop, Parse, Validate, Generate, Deploy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4398264"/>
            <a:ext cx="5212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456285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3CBD3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45445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Data Flow — Job Execution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48371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Three-phase load and SP dependency graph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5184648"/>
            <a:ext cx="5212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53492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3CBD3"/>
                </a:solidFill>
                <a:latin typeface="Consola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7" y="5330952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Data Flow — Migration 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562355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Dual-connection pattern through cutover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4173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3CBD3"/>
                </a:solidFill>
                <a:latin typeface="Consola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1399032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Tool &amp; Technology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What the CLI is actually built from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09360" y="2039112"/>
            <a:ext cx="5212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09360" y="220370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3CBD3"/>
                </a:solidFill>
                <a:latin typeface="Consola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218541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Compute Classification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247802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Python Shell vs. PySpark vs. Visual ETL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09360" y="2825496"/>
            <a:ext cx="5212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309360" y="299008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3CBD3"/>
                </a:solidFill>
                <a:latin typeface="Consolas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29718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AWS Infrastructure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32644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Supporting services every job depends 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09360" y="3611880"/>
            <a:ext cx="5212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09360" y="377647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3CBD3"/>
                </a:solidFill>
                <a:latin typeface="Consolas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75818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Quality Gates &amp; 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405079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QA rules and the deploy pipeline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309360" y="4398264"/>
            <a:ext cx="5212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309360" y="456285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3CBD3"/>
                </a:solidFill>
                <a:latin typeface="Consolas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6288" y="45445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Summary &amp; Next Steps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48371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Key takeaways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309360" y="5184648"/>
            <a:ext cx="5212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ETL MIGRATION ACCELERATOR — SYSTEM ARCHITECTURE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22815" y="6528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71B22"/>
                </a:solidFill>
                <a:latin typeface="Calibri"/>
              </a:rPr>
              <a:t>Programme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5760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SCOPE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69848"/>
            <a:ext cx="10911535" cy="0"/>
          </a:xfrm>
          <a:prstGeom prst="line">
            <a:avLst/>
          </a:prstGeom>
          <a:ln w="12700">
            <a:solidFill>
              <a:srgbClr val="C3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17320"/>
            <a:ext cx="260604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2606040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72768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71B22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88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4681A"/>
                </a:solidFill>
                <a:latin typeface="Consolas"/>
              </a:rP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5059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Each with its own YAML config — connections, IAM roles, VPC, S3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417320"/>
            <a:ext cx="260604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1417320"/>
            <a:ext cx="2606040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572768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71B22"/>
                </a:solidFill>
                <a:latin typeface="Calibri"/>
              </a:rPr>
              <a:t>1,400+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1488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4681A"/>
                </a:solidFill>
                <a:latin typeface="Consolas"/>
              </a:rPr>
              <a:t>ETL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45059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100+ jobs per application, across SSIS and ADF source packages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417320"/>
            <a:ext cx="260604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417320"/>
            <a:ext cx="2606040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572768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71B22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1488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4681A"/>
                </a:solidFill>
                <a:latin typeface="Consolas"/>
              </a:rPr>
              <a:t>GLUE COMPUTE TARGETS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45059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Python Shell · PySpark · Visual ETL — classified automatically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417320"/>
            <a:ext cx="260604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51976" y="1417320"/>
            <a:ext cx="2606040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5" y="1572768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71B22"/>
                </a:solidFill>
                <a:latin typeface="Calibri"/>
              </a:rPr>
              <a:t>v3.0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21488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4681A"/>
                </a:solidFill>
                <a:latin typeface="Consolas"/>
              </a:rPr>
              <a:t>TOOL 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5" y="245059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Ground-up redesign for 14-app scale, June 2026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11880"/>
            <a:ext cx="10908792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7947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14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Source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11480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71B22"/>
                </a:solidFill>
                <a:latin typeface="Calibri"/>
              </a:rPr>
              <a:t>Azure SQL Managed Instance (SQL Server engine)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9884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Target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498848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71B22"/>
                </a:solidFill>
                <a:latin typeface="Calibri"/>
              </a:rPr>
              <a:t>AWS RDS for SQL Server — same engine, no schema conversion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8289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Source packages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882896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71B22"/>
                </a:solidFill>
                <a:latin typeface="Calibri"/>
              </a:rPr>
              <a:t>SSIS .dtsx + .conmgr + .params  ·  ADF Pipeline/Dataset/LinkedService JSON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9360" y="3794760"/>
            <a:ext cx="0" cy="196596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0" y="37947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TOOLING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11480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Primary AI 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41148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71B22"/>
                </a:solidFill>
                <a:latin typeface="Calibri"/>
              </a:rPr>
              <a:t>GitHub Copilot in VS Code — no direct LLM API key available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6177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Deployment runtime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6177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71B22"/>
                </a:solidFill>
                <a:latin typeface="Calibri"/>
              </a:rPr>
              <a:t>Python script using AWS boto3 — no IaC required for primary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12064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Developer environment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51206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71B22"/>
                </a:solidFill>
                <a:latin typeface="Calibri"/>
              </a:rPr>
              <a:t>VS Code + GHCP extension — tool runs as CLI within the terminal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ETL MIGRATION ACCELERATOR — SYSTEM 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22815" y="6528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71B22"/>
                </a:solidFill>
                <a:latin typeface="Calibri"/>
              </a:rP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5760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4 PRINCIPLES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69848"/>
            <a:ext cx="10911535" cy="0"/>
          </a:xfrm>
          <a:prstGeom prst="line">
            <a:avLst/>
          </a:prstGeom>
          <a:ln w="12700">
            <a:solidFill>
              <a:srgbClr val="C3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63040"/>
            <a:ext cx="525780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257800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7007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0078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E6DA4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82496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1B22"/>
                </a:solidFill>
                <a:latin typeface="Calibri"/>
              </a:rPr>
              <a:t>Structure engine, not intelligence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0280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The tool handles parsing, classification, connection mapping, infrastructure dependency resolution and deployment. GitHub Copilot handles code generation. Neither trespasses on the other's domain.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463040"/>
            <a:ext cx="525780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463040"/>
            <a:ext cx="5257800" cy="41148"/>
          </a:xfrm>
          <a:prstGeom prst="rect">
            <a:avLst/>
          </a:prstGeom>
          <a:solidFill>
            <a:srgbClr val="5D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10528" y="17007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70078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5D5A7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1682496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1B22"/>
                </a:solidFill>
                <a:latin typeface="Calibri"/>
              </a:rPr>
              <a:t>The FSD is the source of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240280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The Functional Specification Document is SME-approved before anything downstream happens. GHCP prompt, generated script and deployment configuration all derive from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85031"/>
            <a:ext cx="525780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85031"/>
            <a:ext cx="5257800" cy="411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" y="392277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92277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B4681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04487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1B22"/>
                </a:solidFill>
                <a:latin typeface="Calibri"/>
              </a:rPr>
              <a:t>A factory that runs 14 times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62271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Application-specific configuration drives connection strings, secret names, S3 paths, IAM roles and VPC settings — never hardcoded in generated scripts.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685031"/>
            <a:ext cx="525780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91072" y="3685031"/>
            <a:ext cx="5257800" cy="41148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10528" y="392277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92277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3F7D58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3904487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1B22"/>
                </a:solidFill>
                <a:latin typeface="Calibri"/>
              </a:rPr>
              <a:t>The SME bottleneck is the critical constraint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4462271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At this scale, SME time is the scarce resource. Batch census review, confidence scoring and bulk approval of high-confidence, zero-manual-item jobs minimise it.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ETL MIGRATION ACCELERATOR — SYSTEM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2815" y="6528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71B22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5760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SOURCE → TOOL → TARGET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69848"/>
            <a:ext cx="10911535" cy="0"/>
          </a:xfrm>
          <a:prstGeom prst="line">
            <a:avLst/>
          </a:prstGeom>
          <a:ln w="12700">
            <a:solidFill>
              <a:srgbClr val="C3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17320"/>
            <a:ext cx="3246120" cy="4800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3246120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1" y="158191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81912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E6DA4"/>
                </a:solidFill>
                <a:latin typeface="Consola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29384"/>
            <a:ext cx="29169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3A1"/>
                </a:solidFill>
                <a:latin typeface="Consolas"/>
              </a:rPr>
              <a:t>Microsoft Azure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246120" cy="4800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3246120" cy="41148"/>
          </a:xfrm>
          <a:prstGeom prst="rect">
            <a:avLst/>
          </a:prstGeom>
          <a:solidFill>
            <a:srgbClr val="5D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158191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581912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5D5A78"/>
                </a:solidFill>
                <a:latin typeface="Consolas"/>
              </a:rPr>
              <a:t>MIGRATION ACCELERATOR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29384"/>
            <a:ext cx="29169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3A1"/>
                </a:solidFill>
                <a:latin typeface="Consolas"/>
              </a:rPr>
              <a:t>VS Code · local · tool.py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246120" cy="4800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3246120" cy="411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02752" y="158191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581912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681A"/>
                </a:solidFill>
                <a:latin typeface="Consolas"/>
              </a:rPr>
              <a:t>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929384"/>
            <a:ext cx="29169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3A1"/>
                </a:solidFill>
                <a:latin typeface="Consolas"/>
              </a:rPr>
              <a:t>Amazon Web Services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" y="2286000"/>
            <a:ext cx="2916936" cy="896112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36829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51176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Azure SQL Managed Instance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779776"/>
            <a:ext cx="2660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SQL Server engine, 14 per-app databases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" y="3255264"/>
            <a:ext cx="2916936" cy="896112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337560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PACKAGE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520440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SSIS Packages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749039"/>
            <a:ext cx="2660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.dtsx + .conmgr + .params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" y="4224528"/>
            <a:ext cx="2916936" cy="896112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306824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PACKAGE FORMAT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489704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ADF Pipelines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718304"/>
            <a:ext cx="2660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pipeline / dataset / linkedService 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" y="5193792"/>
            <a:ext cx="2916936" cy="896112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276088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ORCHESTRATION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458968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Triggers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687568"/>
            <a:ext cx="2660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Schedule, tumbling window, blob event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2752" y="2286000"/>
            <a:ext cx="2916936" cy="896112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8" y="236829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COMPUTE · SP WRAPPER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8" y="2551176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Glue Python Shell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8" y="2779776"/>
            <a:ext cx="2660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pandas + sqlalchemy + pymssql · 1 DPU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02752" y="3255264"/>
            <a:ext cx="2916936" cy="896112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8" y="3337560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COMPUTE · DISTRIBUTED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8" y="3520440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Glue PySpark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8" y="3749039"/>
            <a:ext cx="2660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spark.read/write.jdbc · G.1X / G.2X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02752" y="4224528"/>
            <a:ext cx="2916936" cy="896112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4306824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COMPUTE · CONSOLE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0768" y="4489704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Glue Visual ETL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8" y="4718304"/>
            <a:ext cx="2660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Simple flows, manually configured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02752" y="5193792"/>
            <a:ext cx="2916936" cy="896112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0768" y="5276088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DATABASE + STORAGE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5458968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RDS SQL Server · S3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5687568"/>
            <a:ext cx="2660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Target DB, scripts + data lake buckets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53712" y="2286000"/>
            <a:ext cx="2916936" cy="731520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81727" y="236829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MANUAL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81727" y="2551176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1.  Drop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81727" y="277977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/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53712" y="3063240"/>
            <a:ext cx="2916936" cy="731520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81727" y="314553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AUTOMATED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1727" y="3328416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2.  Parse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1727" y="355701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53712" y="3840480"/>
            <a:ext cx="2916936" cy="731520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81727" y="392277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SME GATE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81727" y="4105656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3.  Validate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81727" y="433425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/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53712" y="4617720"/>
            <a:ext cx="2916936" cy="731520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81727" y="470001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GHCP-ASSISTED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81727" y="4882896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4.  Generate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81727" y="511149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/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53712" y="5394960"/>
            <a:ext cx="2916936" cy="731520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81727" y="547725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AUTOMATED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81727" y="5660136"/>
            <a:ext cx="2660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5.  Deploy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81727" y="5888736"/>
            <a:ext cx="2660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/>
            </a:r>
          </a:p>
        </p:txBody>
      </p:sp>
      <p:sp>
        <p:nvSpPr>
          <p:cNvPr id="73" name="Chevron 72"/>
          <p:cNvSpPr/>
          <p:nvPr/>
        </p:nvSpPr>
        <p:spPr>
          <a:xfrm>
            <a:off x="3959352" y="3689604"/>
            <a:ext cx="384048" cy="256032"/>
          </a:xfrm>
          <a:prstGeom prst="chevron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hevron 73"/>
          <p:cNvSpPr/>
          <p:nvPr/>
        </p:nvSpPr>
        <p:spPr>
          <a:xfrm>
            <a:off x="7708392" y="3689604"/>
            <a:ext cx="384048" cy="256032"/>
          </a:xfrm>
          <a:prstGeom prst="chevron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ETL MIGRATION ACCELERATOR — SYSTEM ARCHITECTURE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22815" y="6528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71B22"/>
                </a:solidFill>
                <a:latin typeface="Calibri"/>
              </a:rPr>
              <a:t>Data Flow — Five-Step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5760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AUTOMATED · GATED · ASSISTED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69848"/>
            <a:ext cx="10911535" cy="0"/>
          </a:xfrm>
          <a:prstGeom prst="line">
            <a:avLst/>
          </a:prstGeom>
          <a:ln w="12700">
            <a:solidFill>
              <a:srgbClr val="C3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789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Steps 1, 2 and 5 are fully automated. Step 3 is a human gate. Step 4 is GHCP-assisted inside VS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0574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057400" cy="41148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1856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3F7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562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3F7D5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50008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DROP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2642616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42616"/>
            <a:ext cx="17647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F7D58"/>
                </a:solidFill>
                <a:latin typeface="Consolas"/>
              </a:rPr>
              <a:t>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008376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COMMAND / WHO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200400"/>
            <a:ext cx="1764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171B22"/>
                </a:solidFill>
                <a:latin typeface="Consolas"/>
              </a:rPr>
              <a:t>ETL 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76472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959352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Source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389120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572000"/>
            <a:ext cx="17647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Files placed in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source-packages/{app}/</a:t>
            </a:r>
          </a:p>
        </p:txBody>
      </p:sp>
      <p:sp>
        <p:nvSpPr>
          <p:cNvPr id="20" name="Chevron 19"/>
          <p:cNvSpPr/>
          <p:nvPr/>
        </p:nvSpPr>
        <p:spPr>
          <a:xfrm>
            <a:off x="2724912" y="3680460"/>
            <a:ext cx="274320" cy="182880"/>
          </a:xfrm>
          <a:prstGeom prst="chevron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98648" y="1691640"/>
            <a:ext cx="20574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8648" y="1691640"/>
            <a:ext cx="2057400" cy="41148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44952" y="1856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3F7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8562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3F7D58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4952" y="2350008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PARSE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44952" y="2642616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642616"/>
            <a:ext cx="17647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F7D58"/>
                </a:solidFill>
                <a:latin typeface="Consolas"/>
              </a:rPr>
              <a:t>Automated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4952" y="3008376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COMMAND / WHO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4952" y="3200400"/>
            <a:ext cx="1764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171B22"/>
                </a:solidFill>
                <a:latin typeface="Consolas"/>
              </a:rPr>
              <a:t>tool.py parse --app {app}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4952" y="3776472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4952" y="3959352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All source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4952" y="4389120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4952" y="4572000"/>
            <a:ext cx="17647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FSD per job · census.csv · prereqs manifest</a:t>
            </a:r>
          </a:p>
        </p:txBody>
      </p:sp>
      <p:sp>
        <p:nvSpPr>
          <p:cNvPr id="34" name="Chevron 33"/>
          <p:cNvSpPr/>
          <p:nvPr/>
        </p:nvSpPr>
        <p:spPr>
          <a:xfrm>
            <a:off x="4983480" y="3680460"/>
            <a:ext cx="274320" cy="182880"/>
          </a:xfrm>
          <a:prstGeom prst="chevron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157216" y="1691640"/>
            <a:ext cx="20574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57216" y="1691640"/>
            <a:ext cx="2057400" cy="41148"/>
          </a:xfrm>
          <a:prstGeom prst="rect">
            <a:avLst/>
          </a:prstGeom>
          <a:solidFill>
            <a:srgbClr val="9C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03520" y="1856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9C6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18562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9C6B12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2350008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VALIDATE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2642616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2642616"/>
            <a:ext cx="17647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C6B12"/>
                </a:solidFill>
                <a:latin typeface="Consolas"/>
              </a:rPr>
              <a:t>SME 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3008376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COMMAND / WHO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3200400"/>
            <a:ext cx="1764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171B22"/>
                </a:solidFill>
                <a:latin typeface="Consolas"/>
              </a:rPr>
              <a:t>Manual (VS Code)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3776472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3959352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FSD markdown files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4389120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4572000"/>
            <a:ext cx="17647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approved: true · all [MANUAL] items filled</a:t>
            </a:r>
          </a:p>
        </p:txBody>
      </p:sp>
      <p:sp>
        <p:nvSpPr>
          <p:cNvPr id="48" name="Chevron 47"/>
          <p:cNvSpPr/>
          <p:nvPr/>
        </p:nvSpPr>
        <p:spPr>
          <a:xfrm>
            <a:off x="7242048" y="3680460"/>
            <a:ext cx="274320" cy="182880"/>
          </a:xfrm>
          <a:prstGeom prst="chevron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15784" y="1691640"/>
            <a:ext cx="20574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15784" y="1691640"/>
            <a:ext cx="2057400" cy="41148"/>
          </a:xfrm>
          <a:prstGeom prst="rect">
            <a:avLst/>
          </a:prstGeom>
          <a:solidFill>
            <a:srgbClr val="5D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562088" y="1856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5D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2088" y="18562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5D5A78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2088" y="2350008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GENERATE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62088" y="2642616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62088" y="2642616"/>
            <a:ext cx="17647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5D5A78"/>
                </a:solidFill>
                <a:latin typeface="Consolas"/>
              </a:rPr>
              <a:t>GHCP-Assisted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62088" y="3008376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COMMAND / WHO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3200400"/>
            <a:ext cx="1764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171B22"/>
                </a:solidFill>
                <a:latin typeface="Consolas"/>
              </a:rPr>
              <a:t>tool.py prompt --app --job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62088" y="3776472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INPUT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62088" y="3959352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Approved FSD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62088" y="4389120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OUTPUT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62088" y="4572000"/>
            <a:ext cx="17647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Structured prompt → GHCP → generated script</a:t>
            </a:r>
          </a:p>
        </p:txBody>
      </p:sp>
      <p:sp>
        <p:nvSpPr>
          <p:cNvPr id="62" name="Chevron 61"/>
          <p:cNvSpPr/>
          <p:nvPr/>
        </p:nvSpPr>
        <p:spPr>
          <a:xfrm>
            <a:off x="9500616" y="3680460"/>
            <a:ext cx="274320" cy="182880"/>
          </a:xfrm>
          <a:prstGeom prst="chevron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674352" y="1691640"/>
            <a:ext cx="20574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74352" y="1691640"/>
            <a:ext cx="2057400" cy="41148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820656" y="1856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5875">
            <a:solidFill>
              <a:srgbClr val="3F7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20656" y="18562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3F7D58"/>
                </a:solidFill>
                <a:latin typeface="Calibr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20656" y="2350008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71B22"/>
                </a:solidFill>
                <a:latin typeface="Calibri"/>
              </a:rPr>
              <a:t>DEPLOY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820656" y="2642616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20656" y="2642616"/>
            <a:ext cx="17647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3F7D58"/>
                </a:solidFill>
                <a:latin typeface="Consolas"/>
              </a:rPr>
              <a:t>Automated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20656" y="3008376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COMMAND / WHO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0656" y="3200400"/>
            <a:ext cx="1764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171B22"/>
                </a:solidFill>
                <a:latin typeface="Consolas"/>
              </a:rPr>
              <a:t>tool.py deploy --app --job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20656" y="3776472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INPUT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20656" y="3959352"/>
            <a:ext cx="1764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Script + FSD config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20656" y="4389120"/>
            <a:ext cx="1764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A93A1"/>
                </a:solidFill>
                <a:latin typeface="Consolas"/>
              </a:rPr>
              <a:t>OUTPUT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0656" y="4572000"/>
            <a:ext cx="17647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alibri"/>
              </a:rPr>
              <a:t>QA report · S3 · Glue job · EventBridge rule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ETL MIGRATION ACCELERATOR — SYSTEM ARCHITECTURE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22815" y="6528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71B22"/>
                </a:solidFill>
                <a:latin typeface="Calibri"/>
              </a:rPr>
              <a:t>Data Flow — Job Execution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5760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THREE-PHASE STATIC LOAD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69848"/>
            <a:ext cx="10911535" cy="0"/>
          </a:xfrm>
          <a:prstGeom prst="line">
            <a:avLst/>
          </a:prstGeom>
          <a:ln w="12700">
            <a:solidFill>
              <a:srgbClr val="C3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The dominant pattern across the SSIS estate. Worked example: etl_customer_orders_daily (app: crm).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36499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36499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174650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746504"/>
            <a:ext cx="1051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E6DA4"/>
                </a:solidFill>
                <a:latin typeface="Consolas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57400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71B22"/>
                </a:solidFill>
                <a:latin typeface="Calibri"/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377440"/>
            <a:ext cx="30358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TRUNCATE staging.tmp_orders (DDL, autocommit=True)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→ Read dbo.Orders + dbo.Products from SOURCE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→ Write to staging.tmp_orders / tmp_products on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2232" y="1600200"/>
            <a:ext cx="336499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42232" y="1600200"/>
            <a:ext cx="3364992" cy="41148"/>
          </a:xfrm>
          <a:prstGeom prst="rect">
            <a:avLst/>
          </a:prstGeom>
          <a:solidFill>
            <a:srgbClr val="5D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6824" y="174650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746504"/>
            <a:ext cx="1051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5D5A78"/>
                </a:solidFill>
                <a:latin typeface="Consolas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2057400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71B22"/>
                </a:solidFill>
                <a:latin typeface="Calibri"/>
              </a:rPr>
              <a:t>SP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377440"/>
            <a:ext cx="30358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Runs on TARGET (RDS), following the dependency graph below — stored procedures execute in level order, parallel within a level.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44383" y="1600200"/>
            <a:ext cx="336499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44383" y="1600200"/>
            <a:ext cx="3364992" cy="411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08975" y="174650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8975" y="1746504"/>
            <a:ext cx="1051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681A"/>
                </a:solidFill>
                <a:latin typeface="Consolas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057400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71B22"/>
                </a:solidFill>
                <a:latin typeface="Calibri"/>
              </a:rPr>
              <a:t>Transfer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5" y="2377440"/>
            <a:ext cx="30358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MERGE dbo.Orders_Hist USING staging.tmp_orders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ON order_id, order_date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Single transaction, autocommit=False, COMMIT after MERGE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10908792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77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SP DEPENDENCY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70248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Built from SSIS precedence constraints — SP execution target: RDS SQL Server (TARGET)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663440"/>
            <a:ext cx="3429000" cy="1280160"/>
          </a:xfrm>
          <a:prstGeom prst="roundRect">
            <a:avLst>
              <a:gd name="adj" fmla="val 45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" y="4754880"/>
            <a:ext cx="3172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D5A78"/>
                </a:solidFill>
                <a:latin typeface="Consolas"/>
              </a:rPr>
              <a:t>LEVEL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" y="4956048"/>
            <a:ext cx="3172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3A1"/>
                </a:solidFill>
                <a:latin typeface="Calibri"/>
              </a:rPr>
              <a:t>Run first — no 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" y="5193792"/>
            <a:ext cx="3172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• dbo.sp_validate_orders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" y="5431536"/>
            <a:ext cx="3172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• dbo.sp_load_reference_data</a:t>
            </a:r>
          </a:p>
        </p:txBody>
      </p:sp>
      <p:sp>
        <p:nvSpPr>
          <p:cNvPr id="33" name="Chevron 32"/>
          <p:cNvSpPr/>
          <p:nvPr/>
        </p:nvSpPr>
        <p:spPr>
          <a:xfrm>
            <a:off x="4398264" y="5212080"/>
            <a:ext cx="274320" cy="182880"/>
          </a:xfrm>
          <a:prstGeom prst="chevron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26280" y="4663440"/>
            <a:ext cx="3429000" cy="1280160"/>
          </a:xfrm>
          <a:prstGeom prst="roundRect">
            <a:avLst>
              <a:gd name="adj" fmla="val 45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54296" y="4754880"/>
            <a:ext cx="3172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D5A78"/>
                </a:solidFill>
                <a:latin typeface="Consolas"/>
              </a:rPr>
              <a:t>LEVEL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54296" y="4956048"/>
            <a:ext cx="3172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3A1"/>
                </a:solidFill>
                <a:latin typeface="Calibri"/>
              </a:rPr>
              <a:t>After Level 1 completes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4296" y="5193792"/>
            <a:ext cx="3172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• dbo.sp_enrich_orders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54296" y="5431536"/>
            <a:ext cx="3172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• dbo.sp_calculate_pricing</a:t>
            </a:r>
          </a:p>
        </p:txBody>
      </p:sp>
      <p:sp>
        <p:nvSpPr>
          <p:cNvPr id="39" name="Chevron 38"/>
          <p:cNvSpPr/>
          <p:nvPr/>
        </p:nvSpPr>
        <p:spPr>
          <a:xfrm>
            <a:off x="8010144" y="5212080"/>
            <a:ext cx="274320" cy="182880"/>
          </a:xfrm>
          <a:prstGeom prst="chevron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38160" y="4663440"/>
            <a:ext cx="3429000" cy="1280160"/>
          </a:xfrm>
          <a:prstGeom prst="roundRect">
            <a:avLst>
              <a:gd name="adj" fmla="val 4500"/>
            </a:avLst>
          </a:prstGeom>
          <a:solidFill>
            <a:srgbClr val="EAEEF2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6176" y="4754880"/>
            <a:ext cx="3172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D5A78"/>
                </a:solidFill>
                <a:latin typeface="Consolas"/>
              </a:rPr>
              <a:t>LEVEL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4956048"/>
            <a:ext cx="3172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8A93A1"/>
                </a:solidFill>
                <a:latin typeface="Calibri"/>
              </a:rPr>
              <a:t>After Level 2 completes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5193792"/>
            <a:ext cx="31729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• dbo.sp_finalise_orders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ETL MIGRATION ACCELERATOR — SYSTEM ARCHITECTURE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22815" y="6528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71B22"/>
                </a:solidFill>
                <a:latin typeface="Calibri"/>
              </a:rPr>
              <a:t>Data Flow — Migration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5760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DUAL-CONNECTION PATTERN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69848"/>
            <a:ext cx="10911535" cy="0"/>
          </a:xfrm>
          <a:prstGeom prst="line">
            <a:avLst/>
          </a:prstGeom>
          <a:ln w="12700">
            <a:solidFill>
              <a:srgbClr val="C3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Every generated script reads its connection topology from app_config.migration_stage. The same script redeploys automatically as an application moves through cutover — no code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291840" cy="3200400"/>
          </a:xfrm>
          <a:prstGeom prst="roundRect">
            <a:avLst>
              <a:gd name="adj" fmla="val 4500"/>
            </a:avLst>
          </a:prstGeom>
          <a:solidFill>
            <a:srgbClr val="E7F0F8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3291840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84248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E6DA4"/>
                </a:solidFill>
                <a:latin typeface="Consolas"/>
              </a:rPr>
              <a:t>IN_MIGRATION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SOURCE 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7004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1B22"/>
                </a:solidFill>
                <a:latin typeface="Calibri"/>
              </a:rPr>
              <a:t>Azure SQL 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35808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TARGET WRITES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369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1B22"/>
                </a:solidFill>
                <a:latin typeface="Calibri"/>
              </a:rPr>
              <a:t>RDS SQL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02736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SP CALLS GO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0390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1B22"/>
                </a:solidFill>
                <a:latin typeface="Calibri"/>
              </a:rPr>
              <a:t>RDS SQL Server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40" y="4187952"/>
            <a:ext cx="2926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40" y="431596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Default during programme — active DMS CDC window</a:t>
            </a:r>
          </a:p>
        </p:txBody>
      </p:sp>
      <p:sp>
        <p:nvSpPr>
          <p:cNvPr id="18" name="Chevron 17"/>
          <p:cNvSpPr/>
          <p:nvPr/>
        </p:nvSpPr>
        <p:spPr>
          <a:xfrm>
            <a:off x="4169663" y="3291840"/>
            <a:ext cx="384048" cy="256032"/>
          </a:xfrm>
          <a:prstGeom prst="chevron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98848" y="1783080"/>
            <a:ext cx="329184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8848" y="1783080"/>
            <a:ext cx="3291840" cy="41148"/>
          </a:xfrm>
          <a:prstGeom prst="rect">
            <a:avLst/>
          </a:prstGeom>
          <a:solidFill>
            <a:srgbClr val="5D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1984248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5D5A78"/>
                </a:solidFill>
                <a:latin typeface="Consolas"/>
              </a:rPr>
              <a:t>POST_CUTOVER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24688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SOURCE READS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267004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1B22"/>
                </a:solidFill>
                <a:latin typeface="Calibri"/>
              </a:rPr>
              <a:t>RDS SQL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3035808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TARGET WRITES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2369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1B22"/>
                </a:solidFill>
                <a:latin typeface="Calibri"/>
              </a:rPr>
              <a:t>RDS SQL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602736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SP CALLS GO 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380390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1B22"/>
                </a:solidFill>
                <a:latin typeface="Calibri"/>
              </a:rPr>
              <a:t>RDS SQL Server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81728" y="4187952"/>
            <a:ext cx="2926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81728" y="431596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After application cutover — source and target are the same instance</a:t>
            </a:r>
          </a:p>
        </p:txBody>
      </p:sp>
      <p:sp>
        <p:nvSpPr>
          <p:cNvPr id="30" name="Chevron 29"/>
          <p:cNvSpPr/>
          <p:nvPr/>
        </p:nvSpPr>
        <p:spPr>
          <a:xfrm>
            <a:off x="7845552" y="3291840"/>
            <a:ext cx="384048" cy="256032"/>
          </a:xfrm>
          <a:prstGeom prst="chevron">
            <a:avLst/>
          </a:prstGeom>
          <a:solidFill>
            <a:srgbClr val="8A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74736" y="1783080"/>
            <a:ext cx="329184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4736" y="1783080"/>
            <a:ext cx="3291840" cy="41148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1984248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3F7D58"/>
                </a:solidFill>
                <a:latin typeface="Consolas"/>
              </a:rPr>
              <a:t>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24688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SOURCE READS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267004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1B22"/>
                </a:solidFill>
                <a:latin typeface="Calibri"/>
              </a:rPr>
              <a:t>RDS SQL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3035808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TARGET WRITES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32369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1B22"/>
                </a:solidFill>
                <a:latin typeface="Calibri"/>
              </a:rPr>
              <a:t>RDS SQL 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3602736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SP CALLS GO 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380390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1B22"/>
                </a:solidFill>
                <a:latin typeface="Calibri"/>
              </a:rPr>
              <a:t>RDS SQL Server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57616" y="4187952"/>
            <a:ext cx="29260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57616" y="431596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Azure resources decommissioned for this application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ETL MIGRATION ACCELERATOR — SYSTEM 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22815" y="6528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71B22"/>
                </a:solidFill>
                <a:latin typeface="Calibri"/>
              </a:rPr>
              <a:t>Tool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5760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TOOL.PY · CLI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69848"/>
            <a:ext cx="10911535" cy="0"/>
          </a:xfrm>
          <a:prstGeom prst="line">
            <a:avLst/>
          </a:prstGeom>
          <a:ln w="12700">
            <a:solidFill>
              <a:srgbClr val="C3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789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Single CLI entry point, five internal layers. Every layer is plain Python — no framework, no IaC on the primary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066543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2066543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64792"/>
            <a:ext cx="1773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71B22"/>
                </a:solidFill>
                <a:latin typeface="Calibri"/>
              </a:rPr>
              <a:t>Parser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075688"/>
            <a:ext cx="17739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2E6DA4"/>
                </a:solidFill>
                <a:latin typeface="Consolas"/>
              </a:rPr>
              <a:t>ssis_parser.py · adf_parser.py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2E6DA4"/>
                </a:solidFill>
                <a:latin typeface="Consolas"/>
              </a:rPr>
              <a:t>connection_classifier.py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2E6DA4"/>
                </a:solidFill>
                <a:latin typeface="Consolas"/>
              </a:rPr>
              <a:t>pattern_detector.py · target_classifier.py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84" y="3017520"/>
            <a:ext cx="1773936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6384" y="3154680"/>
            <a:ext cx="1773935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69" b="0">
                <a:solidFill>
                  <a:srgbClr val="5B6472"/>
                </a:solidFill>
                <a:latin typeface="Calibri"/>
              </a:rPr>
              <a:t>Reads .dtsx / ADF JSON, maps connections, detects three-phase pattern, classifies compute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5496" y="1600200"/>
            <a:ext cx="2066543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25496" y="1600200"/>
            <a:ext cx="2066543" cy="41148"/>
          </a:xfrm>
          <a:prstGeom prst="rect">
            <a:avLst/>
          </a:prstGeom>
          <a:solidFill>
            <a:srgbClr val="5D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1764792"/>
            <a:ext cx="1773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71B22"/>
                </a:solidFill>
                <a:latin typeface="Calibri"/>
              </a:rPr>
              <a:t>FSD &amp;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075688"/>
            <a:ext cx="17739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5D5A78"/>
                </a:solidFill>
                <a:latin typeface="Consolas"/>
              </a:rPr>
              <a:t>fsd_writer.py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5D5A78"/>
                </a:solidFill>
                <a:latin typeface="Consolas"/>
              </a:rPr>
              <a:t>prompt_generator.py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1800" y="3017520"/>
            <a:ext cx="1773936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71800" y="3154680"/>
            <a:ext cx="1773935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69" b="0">
                <a:solidFill>
                  <a:srgbClr val="5B6472"/>
                </a:solidFill>
                <a:latin typeface="Calibri"/>
              </a:rPr>
              <a:t>Writes the Functional Spec per job; renders the structured GHCP prompt from the approved FSD.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0912" y="1600200"/>
            <a:ext cx="2066543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0912" y="1600200"/>
            <a:ext cx="2066543" cy="41148"/>
          </a:xfrm>
          <a:prstGeom prst="rect">
            <a:avLst/>
          </a:prstGeom>
          <a:solidFill>
            <a:srgbClr val="9C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6" y="1764792"/>
            <a:ext cx="1773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71B22"/>
                </a:solidFill>
                <a:latin typeface="Calibri"/>
              </a:rPr>
              <a:t>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075688"/>
            <a:ext cx="17739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C6B12"/>
                </a:solidFill>
                <a:latin typeface="Consolas"/>
              </a:rPr>
              <a:t>qa_checker.py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57216" y="3017520"/>
            <a:ext cx="17739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157216" y="3154680"/>
            <a:ext cx="1773935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69" b="0">
                <a:solidFill>
                  <a:srgbClr val="5B6472"/>
                </a:solidFill>
                <a:latin typeface="Calibri"/>
              </a:rPr>
              <a:t>15 static-analysis rules against the GHCP-generated script before it is allowed to deploy.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96327" y="1600200"/>
            <a:ext cx="2066543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96327" y="1600200"/>
            <a:ext cx="2066543" cy="411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2631" y="1764792"/>
            <a:ext cx="1773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71B22"/>
                </a:solidFill>
                <a:latin typeface="Calibri"/>
              </a:rPr>
              <a:t>Deployer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2631" y="2075688"/>
            <a:ext cx="17739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B4681A"/>
                </a:solidFill>
                <a:latin typeface="Consolas"/>
              </a:rPr>
              <a:t>s3_uploader.py · glue_deployer.py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B4681A"/>
                </a:solidFill>
                <a:latin typeface="Consolas"/>
              </a:rPr>
              <a:t>eventbridge_deployer.py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B4681A"/>
                </a:solidFill>
                <a:latin typeface="Consolas"/>
              </a:rPr>
              <a:t>crawler_deployer.py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42631" y="3017520"/>
            <a:ext cx="1773936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42631" y="3154680"/>
            <a:ext cx="1773935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69" b="0">
                <a:solidFill>
                  <a:srgbClr val="5B6472"/>
                </a:solidFill>
                <a:latin typeface="Calibri"/>
              </a:rPr>
              <a:t>boto3-driven: uploads script, creates the Glue job, EventBridge rule, and crawler if required.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81743" y="1600200"/>
            <a:ext cx="2066543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81743" y="1600200"/>
            <a:ext cx="2066543" cy="41148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7" y="1764792"/>
            <a:ext cx="1773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71B22"/>
                </a:solidFill>
                <a:latin typeface="Calibri"/>
              </a:rPr>
              <a:t>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7" y="2075688"/>
            <a:ext cx="17739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3F7D58"/>
                </a:solidFill>
                <a:latin typeface="Consolas"/>
              </a:rPr>
              <a:t>census.py · prereqs.py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3F7D58"/>
                </a:solidFill>
                <a:latin typeface="Consolas"/>
              </a:rPr>
              <a:t>dashboard.py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528047" y="3017520"/>
            <a:ext cx="1773936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528047" y="3154680"/>
            <a:ext cx="1773935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69" b="0">
                <a:solidFill>
                  <a:srgbClr val="5B6472"/>
                </a:solidFill>
                <a:latin typeface="Calibri"/>
              </a:rPr>
              <a:t>Per-app classification census, infrastructure prerequisites manifest, cross-app programme dashboard.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74920"/>
            <a:ext cx="10908792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93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A93A1"/>
                </a:solidFill>
                <a:latin typeface="Consolas"/>
              </a:rPr>
              <a:t>CORE DEPENDENCIES (requirements.txt)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4864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48640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Python 3.9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59736" y="5486400"/>
            <a:ext cx="891540" cy="292608"/>
          </a:xfrm>
          <a:prstGeom prst="roundRect">
            <a:avLst>
              <a:gd name="adj" fmla="val 50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59736" y="5486400"/>
            <a:ext cx="8915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boto3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9292" y="5486400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9292" y="5486400"/>
            <a:ext cx="99669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pandas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04004" y="54864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04004" y="548640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sqlalchemy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9340" y="5486400"/>
            <a:ext cx="1101852" cy="292608"/>
          </a:xfrm>
          <a:prstGeom prst="roundRect">
            <a:avLst>
              <a:gd name="adj" fmla="val 50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9340" y="5486400"/>
            <a:ext cx="11018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pymssql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79208" y="5486400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79208" y="5486400"/>
            <a:ext cx="99669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pyodbc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0" y="5486400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5486400"/>
            <a:ext cx="99669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pyyaml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28632" y="5486400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28632" y="5486400"/>
            <a:ext cx="99669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jinja2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5870448"/>
            <a:ext cx="2889504" cy="292608"/>
          </a:xfrm>
          <a:prstGeom prst="roundRect">
            <a:avLst>
              <a:gd name="adj" fmla="val 50000"/>
            </a:avLst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870448"/>
            <a:ext cx="28895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1B22"/>
                </a:solidFill>
                <a:latin typeface="Consolas"/>
              </a:rPr>
              <a:t>GitHub Copilot (VS Code)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ETL MIGRATION ACCELERATOR — SYSTEM ARCHITECTURE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22815" y="6528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71B22"/>
                </a:solidFill>
                <a:latin typeface="Calibri"/>
              </a:rPr>
              <a:t>Compute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5760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HOW A JOB PICKS ITS TARGET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69848"/>
            <a:ext cx="10911535" cy="0"/>
          </a:xfrm>
          <a:prstGeom prst="line">
            <a:avLst/>
          </a:prstGeom>
          <a:ln w="12700">
            <a:solidFill>
              <a:srgbClr val="C3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789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target_classifier.py evaluates each parsed job against these rules, in priority order, at parse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520440" cy="411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0136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71B22"/>
                </a:solidFill>
                <a:latin typeface="Calibri"/>
              </a:rPr>
              <a:t>Glue Visual 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3055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B4681A"/>
                </a:solidFill>
                <a:latin typeface="Calibri"/>
              </a:rPr>
              <a:t>10–15%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51760"/>
            <a:ext cx="3154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OF ESTATE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59" y="2971800"/>
            <a:ext cx="31546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59" y="3108960"/>
            <a:ext cx="3154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WHEN TO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310128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>
                <a:solidFill>
                  <a:srgbClr val="5B6472"/>
                </a:solidFill>
                <a:latin typeface="Calibri"/>
              </a:rPr>
              <a:t>Simple source → filter → target. No SPs. No complex expressions or Script Components. ≤ 2 sources, ≤ 2 transforms. Row count &lt; 500K.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754880"/>
            <a:ext cx="3154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94690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9" b="0">
                <a:solidFill>
                  <a:srgbClr val="171B22"/>
                </a:solidFill>
                <a:latin typeface="Consolas"/>
              </a:rPr>
              <a:t>AWS Glue Visual ETL — console configuration, not code-generated.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" y="5623560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5623560"/>
            <a:ext cx="3154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4681A"/>
                </a:solidFill>
                <a:latin typeface="Consolas"/>
              </a:rPr>
              <a:t>G.025X, 2 workers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1600200"/>
            <a:ext cx="352044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4256" y="1600200"/>
            <a:ext cx="3520440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180136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71B22"/>
                </a:solidFill>
                <a:latin typeface="Calibri"/>
              </a:rPr>
              <a:t>Glue Python Shell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13055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2E6DA4"/>
                </a:solidFill>
                <a:latin typeface="Calibri"/>
              </a:rPr>
              <a:t>40–50%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2651760"/>
            <a:ext cx="3154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OF ESTATE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17136" y="2971800"/>
            <a:ext cx="31546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17136" y="3108960"/>
            <a:ext cx="3154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WHEN TO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3310128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>
                <a:solidFill>
                  <a:srgbClr val="5B6472"/>
                </a:solidFill>
                <a:latin typeface="Calibri"/>
              </a:rPr>
              <a:t>SP wrapper pattern. Simple data movement, pandas viable (&lt; 5GB). REST/HTTP calls, file operations, minimal-transform Copy Activity.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754880"/>
            <a:ext cx="3154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94690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9" b="0">
                <a:solidFill>
                  <a:srgbClr val="171B22"/>
                </a:solidFill>
                <a:latin typeface="Consolas"/>
              </a:rPr>
              <a:t>Python 3.9 · pandas + sqlalchemy (reads) · pymssql (DDL+DML) · boto3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5623560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5623560"/>
            <a:ext cx="3154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6DA4"/>
                </a:solidFill>
                <a:latin typeface="Consolas"/>
              </a:rPr>
              <a:t>1.0 DPU (16GB RAM)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8432" y="1600200"/>
            <a:ext cx="352044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28432" y="1600200"/>
            <a:ext cx="3520440" cy="41148"/>
          </a:xfrm>
          <a:prstGeom prst="rect">
            <a:avLst/>
          </a:prstGeom>
          <a:solidFill>
            <a:srgbClr val="5D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180136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71B22"/>
                </a:solidFill>
                <a:latin typeface="Calibri"/>
              </a:rPr>
              <a:t>Glue PySpark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213055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5D5A78"/>
                </a:solidFill>
                <a:latin typeface="Calibri"/>
              </a:rPr>
              <a:t>35–45%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2651760"/>
            <a:ext cx="3154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OF ESTATE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11312" y="2971800"/>
            <a:ext cx="3154680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11312" y="3108960"/>
            <a:ext cx="3154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WHEN TO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3310128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>
                <a:solidFill>
                  <a:srgbClr val="5B6472"/>
                </a:solidFill>
                <a:latin typeface="Calibri"/>
              </a:rPr>
              <a:t>Volume &gt; 5GB. Complex multi-table joins, aggregations, window functions, conditional splits. Row count &gt; 5M.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754880"/>
            <a:ext cx="3154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494690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9" b="0">
                <a:solidFill>
                  <a:srgbClr val="171B22"/>
                </a:solidFill>
                <a:latin typeface="Consolas"/>
              </a:rPr>
              <a:t>PySpark 3.x · GlueContext · spark.read.jdbc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11312" y="5623560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EC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1312" y="5623560"/>
            <a:ext cx="3154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D5A78"/>
                </a:solidFill>
                <a:latin typeface="Consolas"/>
              </a:rPr>
              <a:t>G.1X / G.2X, 2–4 workers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ETL MIGRATION ACCELERATOR — SYSTEM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2815" y="6528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71B22"/>
                </a:solidFill>
                <a:latin typeface="Calibri"/>
              </a:rPr>
              <a:t>AWS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5760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CROSS-CUTTING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69848"/>
            <a:ext cx="10911535" cy="0"/>
          </a:xfrm>
          <a:prstGeom prst="line">
            <a:avLst/>
          </a:prstGeom>
          <a:ln w="12700">
            <a:solidFill>
              <a:srgbClr val="C3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0789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Every deployed job depends on this layer. The deployer validates each item exists before pushing a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520440" cy="411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764792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Secrets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103120"/>
            <a:ext cx="31912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30" b="0">
                <a:solidFill>
                  <a:srgbClr val="5B6472"/>
                </a:solidFill>
                <a:latin typeface="Calibri"/>
              </a:rPr>
              <a:t>Source and target DB credentials, SFTP and API keys — never hardcoded.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4671" y="3108960"/>
            <a:ext cx="3191257" cy="0"/>
          </a:xfrm>
          <a:prstGeom prst="line">
            <a:avLst/>
          </a:prstGeom>
          <a:ln w="9525">
            <a:solidFill>
              <a:srgbClr val="DBE1E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1" y="3200400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B4681A"/>
                </a:solidFill>
                <a:latin typeface="Consolas"/>
              </a:rPr>
              <a:t>secret/{app}/source-azure-sql-mi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600200"/>
            <a:ext cx="352044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600200"/>
            <a:ext cx="3520440" cy="411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764792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Glue Connections + VPC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103120"/>
            <a:ext cx="31912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30" b="0">
                <a:solidFill>
                  <a:srgbClr val="5B6472"/>
                </a:solidFill>
                <a:latin typeface="Calibri"/>
              </a:rPr>
              <a:t>JDBC connections to Azure SQL MI and RDS, inside the private subnet.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98848" y="3108960"/>
            <a:ext cx="3191256" cy="0"/>
          </a:xfrm>
          <a:prstGeom prst="line">
            <a:avLst/>
          </a:prstGeom>
          <a:ln w="9525">
            <a:solidFill>
              <a:srgbClr val="DBE1E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98848" y="3200400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B4681A"/>
                </a:solidFill>
                <a:latin typeface="Consolas"/>
              </a:rPr>
              <a:t>glue-conn-{app}-source/-target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600200"/>
            <a:ext cx="352044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1600200"/>
            <a:ext cx="3520440" cy="411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1764792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IAM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2103120"/>
            <a:ext cx="31912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30" b="0">
                <a:solidFill>
                  <a:srgbClr val="5B6472"/>
                </a:solidFill>
                <a:latin typeface="Calibri"/>
              </a:rPr>
              <a:t>Per-app execution role scoped to S3, Secrets Manager, Glue, Logs, SNS.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3023" y="3108960"/>
            <a:ext cx="3191257" cy="0"/>
          </a:xfrm>
          <a:prstGeom prst="line">
            <a:avLst/>
          </a:prstGeom>
          <a:ln w="9525">
            <a:solidFill>
              <a:srgbClr val="DBE1E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93023" y="3200400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B4681A"/>
                </a:solidFill>
                <a:latin typeface="Consolas"/>
              </a:rPr>
              <a:t>GlueRole-{APP}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67328"/>
            <a:ext cx="352044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767328"/>
            <a:ext cx="3520440" cy="411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3931920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EventBridge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4270248"/>
            <a:ext cx="31912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30" b="0">
                <a:solidFill>
                  <a:srgbClr val="5B6472"/>
                </a:solidFill>
                <a:latin typeface="Calibri"/>
              </a:rPr>
              <a:t>Scheduled rules; ADF/SSIS cron expressions translated automatically.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4671" y="5276088"/>
            <a:ext cx="3191257" cy="0"/>
          </a:xfrm>
          <a:prstGeom prst="line">
            <a:avLst/>
          </a:prstGeom>
          <a:ln w="9525">
            <a:solidFill>
              <a:srgbClr val="DBE1E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4671" y="5367527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B4681A"/>
                </a:solidFill>
                <a:latin typeface="Consolas"/>
              </a:rPr>
              <a:t>"0 2 * * *" → cron(0 2 * * ? *)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6" y="3767328"/>
            <a:ext cx="352044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34256" y="3767328"/>
            <a:ext cx="3520440" cy="411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3931920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SNS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4270248"/>
            <a:ext cx="31912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30" b="0">
                <a:solidFill>
                  <a:srgbClr val="5B6472"/>
                </a:solidFill>
                <a:latin typeface="Calibri"/>
              </a:rPr>
              <a:t>Every generated script sends a failure notification before re-raising.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98848" y="5276088"/>
            <a:ext cx="3191256" cy="0"/>
          </a:xfrm>
          <a:prstGeom prst="line">
            <a:avLst/>
          </a:prstGeom>
          <a:ln w="9525">
            <a:solidFill>
              <a:srgbClr val="DBE1E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498848" y="5367527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B4681A"/>
                </a:solidFill>
                <a:latin typeface="Consolas"/>
              </a:rPr>
              <a:t>etl-alerts-{app}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8431" y="3767328"/>
            <a:ext cx="352044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28431" y="3767328"/>
            <a:ext cx="3520440" cy="41148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3" y="3931920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71B22"/>
                </a:solidFill>
                <a:latin typeface="Calibri"/>
              </a:rPr>
              <a:t>Glue Data Catalog + Crawlers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3" y="4270248"/>
            <a:ext cx="31912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30" b="0">
                <a:solidFill>
                  <a:srgbClr val="5B6472"/>
                </a:solidFill>
                <a:latin typeface="Calibri"/>
              </a:rPr>
              <a:t>Only for Visual ETL and S3-writing jobs — JDBC jobs need no catalog.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93023" y="5276088"/>
            <a:ext cx="3191257" cy="0"/>
          </a:xfrm>
          <a:prstGeom prst="line">
            <a:avLst/>
          </a:prstGeom>
          <a:ln w="9525">
            <a:solidFill>
              <a:srgbClr val="DBE1E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193023" y="5367527"/>
            <a:ext cx="3191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B4681A"/>
                </a:solidFill>
                <a:latin typeface="Consolas"/>
              </a:rPr>
              <a:t>auto-created by deployer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ETL MIGRATION ACCELERATOR — SYSTEM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2815" y="6528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71B22"/>
                </a:solidFill>
                <a:latin typeface="Calibri"/>
              </a:rPr>
              <a:t>Quality Gates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9775" y="5760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QA → S3 → GLUE → EVENTBRIDGE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69848"/>
            <a:ext cx="10911535" cy="0"/>
          </a:xfrm>
          <a:prstGeom prst="line">
            <a:avLst/>
          </a:prstGeom>
          <a:ln w="12700">
            <a:solidFill>
              <a:srgbClr val="C3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17320"/>
            <a:ext cx="534924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QA CHECKER — 15 STATIC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3F7D58"/>
                </a:solidFill>
                <a:latin typeface="Consolas"/>
              </a:rP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65960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>
                <a:solidFill>
                  <a:srgbClr val="171B22"/>
                </a:solidFill>
                <a:latin typeface="Calibri"/>
              </a:rPr>
              <a:t>No hardcoded connection strings, passwords or S3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331720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3F7D58"/>
                </a:solidFill>
                <a:latin typeface="Consolas"/>
              </a:rPr>
              <a:t>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31720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>
                <a:solidFill>
                  <a:srgbClr val="171B22"/>
                </a:solidFill>
                <a:latin typeface="Calibri"/>
              </a:rPr>
              <a:t>chunksize present on every pandas.read_sql 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697479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97479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3F7D58"/>
                </a:solidFill>
                <a:latin typeface="Consolas"/>
              </a:rPr>
              <a:t>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697479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>
                <a:solidFill>
                  <a:srgbClr val="171B22"/>
                </a:solidFill>
                <a:latin typeface="Calibri"/>
              </a:rPr>
              <a:t>autocommit=True precedes every DDL statement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063239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063239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3F7D58"/>
                </a:solidFill>
                <a:latin typeface="Consolas"/>
              </a:rPr>
              <a:t>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063239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>
                <a:solidFill>
                  <a:srgbClr val="171B22"/>
                </a:solidFill>
                <a:latin typeface="Calibri"/>
              </a:rPr>
              <a:t>No PySpark imports in a Python Shell job, and vice-versa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428999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28999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3F7D58"/>
                </a:solidFill>
                <a:latin typeface="Consolas"/>
              </a:rPr>
              <a:t>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428999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>
                <a:solidFill>
                  <a:srgbClr val="171B22"/>
                </a:solidFill>
                <a:latin typeface="Calibri"/>
              </a:rPr>
              <a:t>Python 3.9 syntax compatibility (no match/case, no X|Y hints)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794759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B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794759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9C6B12"/>
                </a:solidFill>
                <a:latin typeface="Consolas"/>
              </a:rPr>
              <a:t>WARNING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794759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>
                <a:solidFill>
                  <a:srgbClr val="171B22"/>
                </a:solidFill>
                <a:latin typeface="Calibri"/>
              </a:rPr>
              <a:t>SNS alert present in the outer except block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160520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B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6052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9C6B12"/>
                </a:solidFill>
                <a:latin typeface="Consolas"/>
              </a:rPr>
              <a:t>WARNING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160520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>
                <a:solidFill>
                  <a:srgbClr val="171B22"/>
                </a:solidFill>
                <a:latin typeface="Calibri"/>
              </a:rPr>
              <a:t>Idempotency — DROP TABLE IF EXISTS at script start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4526280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B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52628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9C6B12"/>
                </a:solidFill>
                <a:latin typeface="Consolas"/>
              </a:rPr>
              <a:t>WARNING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526280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>
                <a:solidFill>
                  <a:srgbClr val="171B22"/>
                </a:solidFill>
                <a:latin typeface="Calibri"/>
              </a:rPr>
              <a:t>No bare except clauses; getResolvedOptions used for args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1417320"/>
            <a:ext cx="5376672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6002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3A1"/>
                </a:solidFill>
                <a:latin typeface="Consolas"/>
              </a:rPr>
              <a:t>DEPLOYMENT — tool.py deploy --app --job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96596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681A"/>
                </a:solidFill>
                <a:latin typeface="Consola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196596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71B22"/>
                </a:solidFill>
                <a:latin typeface="Calibri"/>
              </a:rPr>
              <a:t>Pre-flight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21284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Calibri"/>
              </a:rPr>
              <a:t>FSD approved · secrets exist · Glue connections exist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5328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681A"/>
                </a:solidFill>
                <a:latin typeface="Consola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532888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71B22"/>
                </a:solidFill>
                <a:latin typeface="Calibri"/>
              </a:rPr>
              <a:t>QA checks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779776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Calibri"/>
              </a:rPr>
              <a:t>All BLOCK rules pass; WARNING rules logged to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09981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681A"/>
                </a:solidFill>
                <a:latin typeface="Consola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099816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71B22"/>
                </a:solidFill>
                <a:latin typeface="Calibri"/>
              </a:rPr>
              <a:t>Upload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346704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Calibri"/>
              </a:rPr>
              <a:t>Script pushed to s3://glue-scripts-prod/{app}/{job}.py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66674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681A"/>
                </a:solidFill>
                <a:latin typeface="Consola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666744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71B22"/>
                </a:solidFill>
                <a:latin typeface="Calibri"/>
              </a:rPr>
              <a:t>Create Glue job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913631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Calibri"/>
              </a:rPr>
              <a:t>WorkerType / PythonVersion / MaxCapacity set from FSD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23367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681A"/>
                </a:solidFill>
                <a:latin typeface="Consolas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233672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71B22"/>
                </a:solidFill>
                <a:latin typeface="Calibri"/>
              </a:rPr>
              <a:t>Create EventBridge rule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48056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Calibri"/>
              </a:rPr>
              <a:t>Cron translated from ADF/SSIS trigger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8006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681A"/>
                </a:solidFill>
                <a:latin typeface="Consolas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480060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71B22"/>
                </a:solidFill>
                <a:latin typeface="Calibri"/>
              </a:rPr>
              <a:t>Archive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504748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Calibri"/>
              </a:rPr>
              <a:t>Script copied to deployed/{app}/{job}.py for audit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" y="6473952"/>
            <a:ext cx="10911535" cy="0"/>
          </a:xfrm>
          <a:prstGeom prst="line">
            <a:avLst/>
          </a:prstGeom>
          <a:ln w="9525">
            <a:solidFill>
              <a:srgbClr val="DB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ETL MIGRATION ACCELERATOR — SYSTEM ARCHITECTURE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22815" y="6528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A93A1"/>
                </a:solidFill>
                <a:latin typeface="Consola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Summary &amp; Next Steps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234440"/>
            <a:ext cx="10515600" cy="0"/>
          </a:xfrm>
          <a:prstGeom prst="line">
            <a:avLst/>
          </a:prstGeom>
          <a:ln w="12700">
            <a:solidFill>
              <a:srgbClr val="2A33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22960" y="1581912"/>
            <a:ext cx="91440" cy="91440"/>
          </a:xfrm>
          <a:prstGeom prst="ellipse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Human-in-the-loop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0136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B7C0CC"/>
                </a:solidFill>
                <a:latin typeface="Calibri"/>
              </a:rPr>
              <a:t>GHCP generates code; the tool structures inputs and validates outputs. SME approval is a hard gate, not a formality.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50591"/>
            <a:ext cx="91440" cy="91440"/>
          </a:xfrm>
          <a:prstGeom prst="ellipse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39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Config-driven, not hardcoded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70047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B7C0CC"/>
                </a:solidFill>
                <a:latin typeface="Calibri"/>
              </a:rPr>
              <a:t>One YAML per application drives every connection, role, path and secret — the same generated script logic runs 14 times.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319272"/>
            <a:ext cx="91440" cy="91440"/>
          </a:xfrm>
          <a:prstGeom prst="ellipse">
            <a:avLst/>
          </a:prstGeom>
          <a:solidFill>
            <a:srgbClr val="B4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46120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Automated where it's safe to 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38727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B7C0CC"/>
                </a:solidFill>
                <a:latin typeface="Calibri"/>
              </a:rPr>
              <a:t>Parsing, classification, QA and deployment are scripted end to end; only validation and code review stay manual.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4500"/>
            </a:avLst>
          </a:prstGeom>
          <a:solidFill>
            <a:srgbClr val="181F2C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4681A"/>
                </a:solidFill>
                <a:latin typeface="Consolas"/>
              </a:rPr>
              <a:t>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846320"/>
            <a:ext cx="274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681A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4632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7DDE5"/>
                </a:solidFill>
                <a:latin typeface="Calibri"/>
              </a:rPr>
              <a:t>Confirm prerequisites manifest per application (secrets, Glue connections, VPC peering)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48656"/>
            <a:ext cx="274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681A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48656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7DDE5"/>
                </a:solidFill>
                <a:latin typeface="Calibri"/>
              </a:rPr>
              <a:t>Run tool.py parse across all 14 apps to produce the full census and confidence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650992"/>
            <a:ext cx="274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681A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650992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7DDE5"/>
                </a:solidFill>
                <a:latin typeface="Calibri"/>
              </a:rPr>
              <a:t>Sequence SME validation batches by confidence score to unblock high-volume, low-risk jobs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E7888"/>
                </a:solidFill>
                <a:latin typeface="Consolas"/>
              </a:rPr>
              <a:t>ETL Migration Accelerator — Implementation Design v3.0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